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Management</a:t>
            </a:r>
            <a:r>
              <a:rPr/>
              <a:t> </a:t>
            </a:r>
            <a:r>
              <a:rPr/>
              <a:t>Presentation</a:t>
            </a:r>
            <a:r>
              <a:rPr/>
              <a:t> </a:t>
            </a:r>
            <a:r>
              <a:rPr/>
              <a:t>Source</a:t>
            </a:r>
            <a:r>
              <a:rPr/>
              <a:t> </a:t>
            </a:r>
            <a:r>
              <a:rPr/>
              <a:t>Package</a:t>
            </a:r>
            <a:r>
              <a:rPr/>
              <a:t> </a:t>
            </a:r>
            <a:r>
              <a:rPr/>
              <a:t>(12-15</a:t>
            </a:r>
            <a:r>
              <a:rPr/>
              <a:t> </a:t>
            </a:r>
            <a:r>
              <a:rPr/>
              <a:t>Slides)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Audience: non-technical stakeholders (business leaders / senior management).</a:t>
            </a:r>
            <a:br/>
            <a:r>
              <a:rPr/>
              <a:t>Recommended deck length: 14 slides + optional appendix.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1 — Executive Summary: Why This Matters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Business challenge: delayed disease diagnosis drives avoidable crop loss.</a:t>
            </a:r>
          </a:p>
          <a:p>
            <a:pPr lvl="1"/>
            <a:r>
              <a:rPr/>
              <a:t>Solution: mobile web AI diagnosis with explainable per-leaf outputs.</a:t>
            </a:r>
          </a:p>
          <a:p>
            <a:pPr lvl="1"/>
            <a:r>
              <a:rPr/>
              <a:t>Result: strong PlantVillage performance, deployable prototype architecture.</a:t>
            </a:r>
          </a:p>
          <a:p>
            <a:pPr lvl="1"/>
            <a:r>
              <a:rPr/>
              <a:t>Business impact: faster triage, better treatment timing, scalable advisory workflow.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[[V1: one-slide value proposition graphic]]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Start with farmer pain point and business impact.</a:t>
            </a:r>
          </a:p>
          <a:p>
            <a:pPr lvl="1"/>
            <a:r>
              <a:rPr/>
              <a:t>Keep technical details minimal; focus on outcomes.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2 — Team and Delivery Roles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Team members: Dr. Amish Jain, Ayman Rabaya, Shannon Coutinho, Aayush Sharma.</a:t>
            </a:r>
          </a:p>
          <a:p>
            <a:pPr lvl="1"/>
            <a:r>
              <a:rPr/>
              <a:t>Role ownership by stream: ML, backend/API, frontend/demo, documentation/reporting.</a:t>
            </a:r>
          </a:p>
          <a:p>
            <a:pPr lvl="1"/>
            <a:r>
              <a:rPr/>
              <a:t>Presentation speaking order by section.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[[V2: team roles matrix]]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Confirm each member presents at least one section.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3 — Problem Definition in Business Terms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Expert access is limited in-field.</a:t>
            </a:r>
          </a:p>
          <a:p>
            <a:pPr lvl="1"/>
            <a:r>
              <a:rPr/>
              <a:t>Delays increase treatment cost and yield loss.</a:t>
            </a:r>
          </a:p>
          <a:p>
            <a:pPr lvl="1"/>
            <a:r>
              <a:rPr/>
              <a:t>Need: near-immediate, explainable diagnosis from smartphone photos.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[[V3: current-state pain flow]]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Translate technical problem into operational and financial risk.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4 — Scope and Success Criteria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Version-1 scope: PlantVillage-only, English-only, web-based prototype.</a:t>
            </a:r>
          </a:p>
          <a:p>
            <a:pPr lvl="1"/>
            <a:r>
              <a:rPr/>
              <a:t>Must support camera capture + upload fallback.</a:t>
            </a:r>
          </a:p>
          <a:p>
            <a:pPr lvl="1"/>
            <a:r>
              <a:rPr/>
              <a:t>Must support multi-leaf analysis and confidence-based retake guidance.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[[V4: scope in/out table]]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Clarify this is MVP-oriented, not final production release.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5 — Data Profile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Source: PlantVillage dataset.</a:t>
            </a:r>
          </a:p>
          <a:p>
            <a:pPr lvl="1"/>
            <a:r>
              <a:rPr/>
              <a:t>Label granularity: Crop + Disease.</a:t>
            </a:r>
          </a:p>
          <a:p>
            <a:pPr lvl="1"/>
            <a:r>
              <a:rPr/>
              <a:t>Split strategy: stratified 80/10/10.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[[V5: dataset summary table]]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Mention controlled dataset conditions and implications.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6 — EDA Insights That Drove Modeling Choices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Class imbalance observed -&gt; weighted loss used.</a:t>
            </a:r>
          </a:p>
          <a:p>
            <a:pPr lvl="1"/>
            <a:r>
              <a:rPr/>
              <a:t>Augmentation kept realistic and conservative.</a:t>
            </a:r>
          </a:p>
          <a:p>
            <a:pPr lvl="1"/>
            <a:r>
              <a:rPr/>
              <a:t>Domain shift risk identified early.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[[V6: class distribution chart from docs/reports/figures/class_distribution_train.png]]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Emphasize data-driven rationale, not arbitrary model choices.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7 — Technology Platform and System Architecture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Client: mobile browser capture/preview/compression.</a:t>
            </a:r>
          </a:p>
          <a:p>
            <a:pPr lvl="1"/>
            <a:r>
              <a:rPr/>
              <a:t>Backend: FastAPI orchestration.</a:t>
            </a:r>
          </a:p>
          <a:p>
            <a:pPr lvl="1"/>
            <a:r>
              <a:rPr/>
              <a:t>CV/ML services: validation, segmentation, classification, Grad-CAM.</a:t>
            </a:r>
          </a:p>
          <a:p>
            <a:pPr lvl="1"/>
            <a:r>
              <a:rPr/>
              <a:t>Logging/analytics for operational observability.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[[V7: architecture diagram from docs/architecture/system_architecture.md]]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Keep it high-level; avoid implementation overload.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8 — Methodology: End-to-End CV Pipeline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Leaf validation (HSV heuristic).</a:t>
            </a:r>
          </a:p>
          <a:p>
            <a:pPr lvl="1"/>
            <a:r>
              <a:rPr/>
              <a:t>Classical segmentation (threshold + contours) up to 5 leaves.</a:t>
            </a:r>
          </a:p>
          <a:p>
            <a:pPr lvl="1"/>
            <a:r>
              <a:rPr/>
              <a:t>Per-leaf classification with confidence threshold.</a:t>
            </a:r>
          </a:p>
          <a:p>
            <a:pPr lvl="1"/>
            <a:r>
              <a:rPr/>
              <a:t>Grad-CAM for explainability.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[[V8: flow diagram from docs/architecture/system_flow.md]]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Stress integration of multiple CV techniques in one product workflow.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9 — Model Strategy and Training Approach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Compared three models: CNN, MobileNetV2, Hybrid.</a:t>
            </a:r>
          </a:p>
          <a:p>
            <a:pPr lvl="1"/>
            <a:r>
              <a:rPr/>
              <a:t>Training: Adam + early stopping + best-checkpoint restore.</a:t>
            </a:r>
          </a:p>
          <a:p>
            <a:pPr lvl="1"/>
            <a:r>
              <a:rPr/>
              <a:t>Evaluation: Accuracy, Precision, Recall, F1, confusion matrix, speed, size.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[[V9: model family diagram]]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Explain why transfer learning is practical for MVP quality.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10 — Literature and Benchmark Positioning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Transfer learning is standard in plant disease CV tasks.</a:t>
            </a:r>
          </a:p>
          <a:p>
            <a:pPr lvl="1"/>
            <a:r>
              <a:rPr/>
              <a:t>Explainability is needed for practical trust in advisory settings.</a:t>
            </a:r>
          </a:p>
          <a:p>
            <a:pPr lvl="1"/>
            <a:r>
              <a:rPr/>
              <a:t>Our contribution: deployable multi-leaf + explainability + API workflow.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[[V10: references and comparison snapshot]]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Keep citations concise and relevance-focused.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11 — Results and Model Selection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MobileNetV2 achieved best Accuracy/F1 in observed comparison.</a:t>
            </a:r>
          </a:p>
          <a:p>
            <a:pPr lvl="1"/>
            <a:r>
              <a:rPr/>
              <a:t>Hybrid was competitive but larger and slower.</a:t>
            </a:r>
          </a:p>
          <a:p>
            <a:pPr lvl="1"/>
            <a:r>
              <a:rPr/>
              <a:t>Deployment decision for v1: MobileNetV2.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[[V11: results table from docs/reports/model_comparison_summary.md]]</a:t>
            </a:r>
            <a:r>
              <a:rPr/>
              <a:t> </a:t>
            </a:r>
            <a:r>
              <a:rPr b="1"/>
              <a:t>Reference</a:t>
            </a:r>
            <a:r>
              <a:rPr/>
              <a:t>: </a:t>
            </a:r>
            <a:r>
              <a:rPr>
                <a:latin typeface="Courier"/>
              </a:rPr>
              <a:t>docs/reports/selected_model_rationale.md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Tie decision to business constraints (quality + deployability).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12 — Demo Evidence: Real Inference Outputs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Show healthy, diseased, mixed multi-leaf, and invalid/no-leaf cases.</a:t>
            </a:r>
          </a:p>
          <a:p>
            <a:pPr lvl="1"/>
            <a:r>
              <a:rPr/>
              <a:t>Show Grad-CAM overlays and confidence behavior.</a:t>
            </a:r>
          </a:p>
          <a:p>
            <a:pPr lvl="1"/>
            <a:r>
              <a:rPr/>
              <a:t>Show clear retake guidance for poor inputs. </a:t>
            </a:r>
            <a:r>
              <a:rPr b="1"/>
              <a:t>Visual placeholder</a:t>
            </a:r>
            <a:r>
              <a:rPr/>
              <a:t>:</a:t>
            </a:r>
          </a:p>
          <a:p>
            <a:pPr lvl="1"/>
            <a:r>
              <a:rPr>
                <a:latin typeface="Courier"/>
              </a:rPr>
              <a:t>[[V12A: sample output cards]]</a:t>
            </a:r>
          </a:p>
          <a:p>
            <a:pPr lvl="1"/>
            <a:r>
              <a:rPr>
                <a:latin typeface="Courier"/>
              </a:rPr>
              <a:t>[[V12B: Grad-CAM examples]]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This slide should mirror the recorded demo narrative.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13 — Risks, Limitations, and Mitigations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PlantVillage-to-field domain shift remains primary risk.</a:t>
            </a:r>
          </a:p>
          <a:p>
            <a:pPr lvl="1"/>
            <a:r>
              <a:rPr/>
              <a:t>Classical segmentation can fail in clutter/harsh lighting.</a:t>
            </a:r>
          </a:p>
          <a:p>
            <a:pPr lvl="1"/>
            <a:r>
              <a:rPr/>
              <a:t>Mitigations: thresholding, retake guidance, field-data roadmap.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[[V13: risk heatmap]]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Present limitations candidly and with mitigation actions.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Slide 14 — Path to MVP and Implementation Plan</a:t>
            </a:r>
          </a:p>
          <a:p>
            <a:pPr lvl="0" marL="0" indent="0">
              <a:buNone/>
            </a:pPr>
            <a:r>
              <a:rPr b="1"/>
              <a:t>Key points</a:t>
            </a:r>
          </a:p>
          <a:p>
            <a:pPr lvl="1"/>
            <a:r>
              <a:rPr/>
              <a:t>Next steps: field validation dataset, calibration, model optimization.</a:t>
            </a:r>
          </a:p>
          <a:p>
            <a:pPr lvl="1"/>
            <a:r>
              <a:rPr/>
              <a:t>Pilot plan: extension officers + monitored rollout.</a:t>
            </a:r>
          </a:p>
          <a:p>
            <a:pPr lvl="1"/>
            <a:r>
              <a:rPr/>
              <a:t>Resource ask: data collection support, deployment hardening effort. </a:t>
            </a:r>
            <a:r>
              <a:rPr b="1"/>
              <a:t>Visual placeholder</a:t>
            </a:r>
            <a:r>
              <a:rPr/>
              <a:t>: </a:t>
            </a:r>
            <a:r>
              <a:rPr>
                <a:latin typeface="Courier"/>
              </a:rPr>
              <a:t>[[V14: roadmap timeline]]</a:t>
            </a:r>
            <a:r>
              <a:rPr/>
              <a:t> </a:t>
            </a:r>
            <a:r>
              <a:rPr b="1"/>
              <a:t>Speaker notes</a:t>
            </a:r>
          </a:p>
          <a:p>
            <a:pPr lvl="1"/>
            <a:r>
              <a:rPr/>
              <a:t>End with actionable plan and ownership.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Optional Appendix A — Technical Backup</a:t>
            </a:r>
          </a:p>
          <a:p>
            <a:pPr lvl="1"/>
            <a:r>
              <a:rPr/>
              <a:t>Hyperparameters, training curves, confusion matrix details.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Optional Appendix B — API and Analytics Backup</a:t>
            </a:r>
          </a:p>
          <a:p>
            <a:pPr lvl="1"/>
            <a:r>
              <a:rPr>
                <a:latin typeface="Courier"/>
              </a:rPr>
              <a:t>/infer</a:t>
            </a:r>
            <a:r>
              <a:rPr/>
              <a:t> response schema examples</a:t>
            </a:r>
          </a:p>
          <a:p>
            <a:pPr lvl="1"/>
            <a:r>
              <a:rPr>
                <a:latin typeface="Courier"/>
              </a:rPr>
              <a:t>/analytics/summary</a:t>
            </a:r>
            <a:r>
              <a:rPr/>
              <a:t> interpretation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2026-03-08T22:38:38Z</dcterms:created>
  <dcterms:modified xsi:type="dcterms:W3CDTF">2026-03-08T22:38:38Z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
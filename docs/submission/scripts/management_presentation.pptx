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2" d="100"/>
          <a:sy n="142" d="100"/>
        </p:scale>
        <p:origin x="978" y="3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315968"/>
            <a:ext cx="12188952" cy="109728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4187952"/>
            <a:ext cx="12188952" cy="73152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3A047"/>
                </a:solidFill>
                <a:latin typeface="Calibri"/>
              </a:rPr>
              <a:t>AI-POWERED PLANT DISEASE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Putting a Plant Doctor in Every Farmer's Pocket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E8F5E9"/>
                </a:solidFill>
                <a:latin typeface="Calibri"/>
              </a:rPr>
              <a:t>PlantVillage Dataset  |  FastAPI + PyTorch + MobileNetV2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17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Dr. Amish Jain  |  Ayman Rabaya  |  Shannon Coutinho  |  Aayush Sharma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749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5E9"/>
                </a:solidFill>
                <a:latin typeface="Calibri"/>
              </a:rPr>
              <a:t>Computer Vision Final Project  —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778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8F00"/>
                </a:solidFill>
                <a:latin typeface="Calibri"/>
              </a:rPr>
              <a:t>99.76% Accuracy  |  38 Disease Classes  |  Mobile-First Deployment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28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AI-Powered Plant Disease Detection  |  PlantVillage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F5E9"/>
                </a:solidFill>
                <a:latin typeface="Calibri"/>
              </a:rPr>
              <a:t>Why This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AI-Powered Plant Disease Detection  |  PlantVillage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2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26517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79" y="1527048"/>
            <a:ext cx="2468879" cy="678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5E20"/>
                </a:solidFill>
                <a:latin typeface="Calibri"/>
              </a:rPr>
              <a:t>10–40%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59" y="2133295"/>
            <a:ext cx="2560320" cy="46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  <a:latin typeface="Calibri"/>
              </a:rPr>
              <a:t>Annual crop yield lost
to plant diseases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417320"/>
            <a:ext cx="26517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91840" y="1527048"/>
            <a:ext cx="2468879" cy="678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5E20"/>
                </a:solidFill>
                <a:latin typeface="Calibri"/>
              </a:rPr>
              <a:t>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133295"/>
            <a:ext cx="2560320" cy="46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  <a:latin typeface="Calibri"/>
              </a:rPr>
              <a:t>Disease classes
detected &amp; classified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59" y="1417320"/>
            <a:ext cx="26517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72199" y="1527048"/>
            <a:ext cx="2468879" cy="678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5E20"/>
                </a:solidFill>
                <a:latin typeface="Calibri"/>
              </a:rPr>
              <a:t>99.76%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79" y="2133295"/>
            <a:ext cx="2560320" cy="46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  <a:latin typeface="Calibri"/>
              </a:rPr>
              <a:t>Test accuracy
(MobileNetV2)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19" y="1417320"/>
            <a:ext cx="26517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52559" y="1527048"/>
            <a:ext cx="2468879" cy="678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5E20"/>
                </a:solidFill>
                <a:latin typeface="Calibri"/>
              </a:rPr>
              <a:t>&lt; 0.5s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133295"/>
            <a:ext cx="2560320" cy="46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  <a:latin typeface="Calibri"/>
              </a:rPr>
              <a:t>Inference time
per image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278892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  <a:latin typeface="Calibri"/>
              </a:rPr>
              <a:t>SOLUTION  →  IMPACT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108960"/>
            <a:ext cx="11548872" cy="36576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" y="3200400"/>
            <a:ext cx="11521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2E7D32"/>
                </a:solidFill>
                <a:latin typeface="Calibri"/>
              </a:rPr>
              <a:t>● </a:t>
            </a:r>
            <a:r>
              <a:rPr sz="1250">
                <a:solidFill>
                  <a:srgbClr val="212121"/>
                </a:solidFill>
                <a:latin typeface="Calibri"/>
              </a:rPr>
              <a:t>Business Problem:  Smallholder farmers suffer avoidable crop losses due to delayed disease diagnosis — no accessible, fast expert tool exists in the field.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2E7D32"/>
                </a:solidFill>
                <a:latin typeface="Calibri"/>
              </a:rPr>
              <a:t>● </a:t>
            </a:r>
            <a:r>
              <a:rPr sz="1250">
                <a:solidFill>
                  <a:srgbClr val="212121"/>
                </a:solidFill>
                <a:latin typeface="Calibri"/>
              </a:rPr>
              <a:t>Our Solution:  Mobile web AI prototype that classifies plant leaf diseases from a smartphone photo in seconds, with per-leaf explainability via Grad-CAM visual heatmaps.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2E7D32"/>
                </a:solidFill>
                <a:latin typeface="Calibri"/>
              </a:rPr>
              <a:t>● </a:t>
            </a:r>
            <a:r>
              <a:rPr sz="1250">
                <a:solidFill>
                  <a:srgbClr val="212121"/>
                </a:solidFill>
                <a:latin typeface="Calibri"/>
              </a:rPr>
              <a:t>Key Result:  MobileNetV2 achieves 99.76% accuracy and 0.9950 macro-F1 across 38 PlantVillage disease/healthy classes — no expert intermediary required.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2E7D32"/>
                </a:solidFill>
                <a:latin typeface="Calibri"/>
              </a:rPr>
              <a:t>● </a:t>
            </a:r>
            <a:r>
              <a:rPr sz="1250">
                <a:solidFill>
                  <a:srgbClr val="212121"/>
                </a:solidFill>
                <a:latin typeface="Calibri"/>
              </a:rPr>
              <a:t>Business Impact:  Faster triage, better treatment timing, reduced crop loss risk, and a scalable advisory workflow deployable to any smartphone browser.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Our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F5E9"/>
                </a:solidFill>
                <a:latin typeface="Calibri"/>
              </a:rPr>
              <a:t>Roles &amp; Responsibilities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AI-Powered Plant Disease Detection  |  PlantVillage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3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219456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59" y="1408176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Team Member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4600" y="1371600"/>
            <a:ext cx="274320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140817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Role Stream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57800" y="1371600"/>
            <a:ext cx="630936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0" y="1408176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Responsibilities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664208"/>
            <a:ext cx="219456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59" y="1700784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12121"/>
                </a:solidFill>
                <a:latin typeface="Calibri"/>
              </a:rPr>
              <a:t>Dr. Amish Jain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14600" y="1664208"/>
            <a:ext cx="274320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60320" y="1700784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ML Architecture &amp; Model Strategy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57800" y="1664208"/>
            <a:ext cx="630936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0" y="1700784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Model design, training pipeline, architecture comparison &amp; selection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956816"/>
            <a:ext cx="21945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59" y="1993392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12121"/>
                </a:solidFill>
                <a:latin typeface="Calibri"/>
              </a:rPr>
              <a:t>Ayman Rabaya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14600" y="1956816"/>
            <a:ext cx="2743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60320" y="1993392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Backend API &amp; Deployment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57800" y="1956816"/>
            <a:ext cx="6309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03520" y="1993392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FastAPI development, inference service, analytics logging, deployment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249424"/>
            <a:ext cx="219456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59" y="228600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12121"/>
                </a:solidFill>
                <a:latin typeface="Calibri"/>
              </a:rPr>
              <a:t>Shannon Coutinho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14600" y="2249424"/>
            <a:ext cx="274320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560320" y="2286000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Frontend &amp; Demo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57800" y="2249424"/>
            <a:ext cx="630936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03520" y="2286000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Mobile UI, camera/upload integration, demo recording &amp; narration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2542032"/>
            <a:ext cx="21945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59" y="257860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12121"/>
                </a:solidFill>
                <a:latin typeface="Calibri"/>
              </a:rPr>
              <a:t>Aayush Sharma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14600" y="2542032"/>
            <a:ext cx="2743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560320" y="257860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Documentation &amp; Reporting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57800" y="2542032"/>
            <a:ext cx="6309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03520" y="2578608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Technical synopsis, Jupyter Book, presentation, compliance mapping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F5E9"/>
                </a:solidFill>
                <a:latin typeface="Calibri"/>
              </a:rPr>
              <a:t>Delayed Diagnosis Costs Farmers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AI-Powered Plant Disease Detection  |  PlantVillage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4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2011680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59" y="1463040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👁️  Farmer
Spots Symptom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1737360"/>
            <a:ext cx="292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5E20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24328" y="1417320"/>
            <a:ext cx="2011680" cy="105156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70048" y="1463040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📅  Days /
Weeks Waiting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1737360"/>
            <a:ext cx="292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5E20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28616" y="1417320"/>
            <a:ext cx="2011680" cy="10515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74336" y="1463040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🔬  Expert
Unavailable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0296" y="1737360"/>
            <a:ext cx="292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5E20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32904" y="1417320"/>
            <a:ext cx="2011680" cy="105156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78624" y="1463040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💸  Treatment
Too 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4584" y="1737360"/>
            <a:ext cx="292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5E20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37192" y="1417320"/>
            <a:ext cx="2011680" cy="105156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82912" y="1463040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📉  Yield
Loss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2606040"/>
            <a:ext cx="11521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E7D32"/>
                </a:solidFill>
                <a:latin typeface="Calibri"/>
              </a:rPr>
              <a:t>● </a:t>
            </a:r>
            <a:r>
              <a:rPr sz="1300">
                <a:solidFill>
                  <a:srgbClr val="212121"/>
                </a:solidFill>
                <a:latin typeface="Calibri"/>
              </a:rPr>
              <a:t>800M+ smallholder farmers globally depend on crops as their primary livelihood source.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E7D32"/>
                </a:solidFill>
                <a:latin typeface="Calibri"/>
              </a:rPr>
              <a:t>● </a:t>
            </a:r>
            <a:r>
              <a:rPr sz="1300">
                <a:solidFill>
                  <a:srgbClr val="212121"/>
                </a:solidFill>
                <a:latin typeface="Calibri"/>
              </a:rPr>
              <a:t>Plant diseases are responsible for an estimated 10–40% annual crop yield loss worldwide.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E7D32"/>
                </a:solidFill>
                <a:latin typeface="Calibri"/>
              </a:rPr>
              <a:t>● </a:t>
            </a:r>
            <a:r>
              <a:rPr sz="1300">
                <a:solidFill>
                  <a:srgbClr val="212121"/>
                </a:solidFill>
                <a:latin typeface="Calibri"/>
              </a:rPr>
              <a:t>Expert agronomists are scarce, expensive, and simply unavailable in remote field conditions.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E7D32"/>
                </a:solidFill>
                <a:latin typeface="Calibri"/>
              </a:rPr>
              <a:t>● </a:t>
            </a:r>
            <a:r>
              <a:rPr sz="1300">
                <a:solidFill>
                  <a:srgbClr val="212121"/>
                </a:solidFill>
                <a:latin typeface="Calibri"/>
              </a:rPr>
              <a:t>By the time visible symptoms are obvious, disease spread is often already beyond early-stage control.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E7D32"/>
                </a:solidFill>
                <a:latin typeface="Calibri"/>
              </a:rPr>
              <a:t>● </a:t>
            </a:r>
            <a:r>
              <a:rPr sz="1300">
                <a:solidFill>
                  <a:srgbClr val="212121"/>
                </a:solidFill>
                <a:latin typeface="Calibri"/>
              </a:rPr>
              <a:t>No fast, affordable, and accessible tool currently exists for in-field disease identification at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Project Scope &amp; Success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F5E9"/>
                </a:solidFill>
                <a:latin typeface="Calibri"/>
              </a:rPr>
              <a:t>Version 1 MVP Definition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AI-Powered Plant Disease Detection  |  PlantVillage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5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548640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39903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✅  IN SCOPE — Version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755648"/>
            <a:ext cx="54864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dirty="0">
                <a:solidFill>
                  <a:srgbClr val="2E7D32"/>
                </a:solidFill>
                <a:latin typeface="Calibri"/>
              </a:rPr>
              <a:t>● </a:t>
            </a:r>
            <a:r>
              <a:rPr sz="1200" dirty="0">
                <a:solidFill>
                  <a:srgbClr val="212121"/>
                </a:solidFill>
                <a:latin typeface="Calibri"/>
              </a:rPr>
              <a:t>Mobile browser-based camera capture &amp; file upload (no app install)</a:t>
            </a:r>
          </a:p>
          <a:p>
            <a:pPr>
              <a:spcBef>
                <a:spcPts val="400"/>
              </a:spcBef>
            </a:pPr>
            <a:r>
              <a:rPr sz="1200" dirty="0">
                <a:solidFill>
                  <a:srgbClr val="2E7D32"/>
                </a:solidFill>
                <a:latin typeface="Calibri"/>
              </a:rPr>
              <a:t>● </a:t>
            </a:r>
            <a:r>
              <a:rPr sz="1200" dirty="0">
                <a:solidFill>
                  <a:srgbClr val="212121"/>
                </a:solidFill>
                <a:latin typeface="Calibri"/>
              </a:rPr>
              <a:t>Leaf presence validation before inference</a:t>
            </a:r>
          </a:p>
          <a:p>
            <a:pPr>
              <a:spcBef>
                <a:spcPts val="400"/>
              </a:spcBef>
            </a:pPr>
            <a:r>
              <a:rPr sz="1200" dirty="0">
                <a:solidFill>
                  <a:srgbClr val="2E7D32"/>
                </a:solidFill>
                <a:latin typeface="Calibri"/>
              </a:rPr>
              <a:t>● </a:t>
            </a:r>
            <a:r>
              <a:rPr sz="1200" dirty="0">
                <a:solidFill>
                  <a:srgbClr val="212121"/>
                </a:solidFill>
                <a:latin typeface="Calibri"/>
              </a:rPr>
              <a:t>Multi-leaf segmentation </a:t>
            </a:r>
            <a:r>
              <a:rPr lang="en-US" sz="1200" dirty="0">
                <a:solidFill>
                  <a:srgbClr val="212121"/>
                </a:solidFill>
                <a:latin typeface="Calibri"/>
              </a:rPr>
              <a:t>-</a:t>
            </a:r>
            <a:r>
              <a:rPr sz="1200" dirty="0">
                <a:solidFill>
                  <a:srgbClr val="212121"/>
                </a:solidFill>
                <a:latin typeface="Calibri"/>
              </a:rPr>
              <a:t> up to 5 leaves per image</a:t>
            </a:r>
          </a:p>
          <a:p>
            <a:pPr>
              <a:spcBef>
                <a:spcPts val="400"/>
              </a:spcBef>
            </a:pPr>
            <a:r>
              <a:rPr sz="1200" dirty="0">
                <a:solidFill>
                  <a:srgbClr val="2E7D32"/>
                </a:solidFill>
                <a:latin typeface="Calibri"/>
              </a:rPr>
              <a:t>● </a:t>
            </a:r>
            <a:r>
              <a:rPr sz="1200" dirty="0">
                <a:solidFill>
                  <a:srgbClr val="212121"/>
                </a:solidFill>
                <a:latin typeface="Calibri"/>
              </a:rPr>
              <a:t>Per-leaf independent classification (Crop + Disease label)</a:t>
            </a:r>
          </a:p>
          <a:p>
            <a:pPr>
              <a:spcBef>
                <a:spcPts val="400"/>
              </a:spcBef>
            </a:pPr>
            <a:r>
              <a:rPr sz="1200" dirty="0">
                <a:solidFill>
                  <a:srgbClr val="2E7D32"/>
                </a:solidFill>
                <a:latin typeface="Calibri"/>
              </a:rPr>
              <a:t>● </a:t>
            </a:r>
            <a:r>
              <a:rPr sz="1200" dirty="0">
                <a:solidFill>
                  <a:srgbClr val="212121"/>
                </a:solidFill>
                <a:latin typeface="Calibri"/>
              </a:rPr>
              <a:t>Confidence-gated output </a:t>
            </a:r>
            <a:r>
              <a:rPr lang="en-US" sz="1200" dirty="0">
                <a:solidFill>
                  <a:srgbClr val="212121"/>
                </a:solidFill>
                <a:latin typeface="Calibri"/>
              </a:rPr>
              <a:t>-</a:t>
            </a:r>
            <a:r>
              <a:rPr sz="1200" dirty="0">
                <a:solidFill>
                  <a:srgbClr val="212121"/>
                </a:solidFill>
                <a:latin typeface="Calibri"/>
              </a:rPr>
              <a:t> retake if model is uncertain</a:t>
            </a:r>
          </a:p>
          <a:p>
            <a:pPr>
              <a:spcBef>
                <a:spcPts val="400"/>
              </a:spcBef>
            </a:pPr>
            <a:r>
              <a:rPr sz="1200" dirty="0">
                <a:solidFill>
                  <a:srgbClr val="2E7D32"/>
                </a:solidFill>
                <a:latin typeface="Calibri"/>
              </a:rPr>
              <a:t>● </a:t>
            </a:r>
            <a:r>
              <a:rPr sz="1200" dirty="0">
                <a:solidFill>
                  <a:srgbClr val="212121"/>
                </a:solidFill>
                <a:latin typeface="Calibri"/>
              </a:rPr>
              <a:t>Grad-CAM visual explainability per accepted leaf</a:t>
            </a:r>
          </a:p>
          <a:p>
            <a:pPr>
              <a:spcBef>
                <a:spcPts val="400"/>
              </a:spcBef>
            </a:pPr>
            <a:r>
              <a:rPr sz="1200" dirty="0">
                <a:solidFill>
                  <a:srgbClr val="2E7D32"/>
                </a:solidFill>
                <a:latin typeface="Calibri"/>
              </a:rPr>
              <a:t>● </a:t>
            </a:r>
            <a:r>
              <a:rPr sz="1200" dirty="0" err="1">
                <a:solidFill>
                  <a:srgbClr val="212121"/>
                </a:solidFill>
                <a:latin typeface="Calibri"/>
              </a:rPr>
              <a:t>PlantVillage</a:t>
            </a:r>
            <a:r>
              <a:rPr sz="1200" dirty="0">
                <a:solidFill>
                  <a:srgbClr val="212121"/>
                </a:solidFill>
                <a:latin typeface="Calibri"/>
              </a:rPr>
              <a:t> dataset  |  38 classes  |  English language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371600"/>
            <a:ext cx="5760720" cy="34747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399032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🚫  OUT OF SCOPE — Version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755648"/>
            <a:ext cx="5760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C62828"/>
                </a:solidFill>
                <a:latin typeface="Calibri"/>
              </a:rPr>
              <a:t>● </a:t>
            </a:r>
            <a:r>
              <a:rPr sz="1200">
                <a:solidFill>
                  <a:srgbClr val="212121"/>
                </a:solidFill>
                <a:latin typeface="Calibri"/>
              </a:rPr>
              <a:t>Native mobile app / offline PWA mode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62828"/>
                </a:solidFill>
                <a:latin typeface="Calibri"/>
              </a:rPr>
              <a:t>● </a:t>
            </a:r>
            <a:r>
              <a:rPr sz="1200">
                <a:solidFill>
                  <a:srgbClr val="212121"/>
                </a:solidFill>
                <a:latin typeface="Calibri"/>
              </a:rPr>
              <a:t>Non-English language support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62828"/>
                </a:solidFill>
                <a:latin typeface="Calibri"/>
              </a:rPr>
              <a:t>● </a:t>
            </a:r>
            <a:r>
              <a:rPr sz="1200">
                <a:solidFill>
                  <a:srgbClr val="212121"/>
                </a:solidFill>
                <a:latin typeface="Calibri"/>
              </a:rPr>
              <a:t>Real-field (non-PlantVillage) training data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62828"/>
                </a:solidFill>
                <a:latin typeface="Calibri"/>
              </a:rPr>
              <a:t>● </a:t>
            </a:r>
            <a:r>
              <a:rPr sz="1200">
                <a:solidFill>
                  <a:srgbClr val="212121"/>
                </a:solidFill>
                <a:latin typeface="Calibri"/>
              </a:rPr>
              <a:t>Treatment recommendation engine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62828"/>
                </a:solidFill>
                <a:latin typeface="Calibri"/>
              </a:rPr>
              <a:t>● </a:t>
            </a:r>
            <a:r>
              <a:rPr sz="1200">
                <a:solidFill>
                  <a:srgbClr val="212121"/>
                </a:solidFill>
                <a:latin typeface="Calibri"/>
              </a:rPr>
              <a:t>Cloud autoscaling / production hardening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5349240"/>
            <a:ext cx="11548872" cy="34747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5376672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SUCCESS CRITERIA:  &gt;95% test accuracy  |  Functional multi-leaf pipeline  |  Live API with Grad-CAM explainability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Data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F5E9"/>
                </a:solidFill>
                <a:latin typeface="Calibri"/>
              </a:rPr>
              <a:t>PlantVillage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AI-Powered Plant Disease Detection  |  PlantVillage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6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274320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59" y="140817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Property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63240" y="1371600"/>
            <a:ext cx="850392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08960" y="1408176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64208"/>
            <a:ext cx="274320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59" y="1700784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  <a:latin typeface="Calibri"/>
              </a:rPr>
              <a:t>Source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63240" y="1664208"/>
            <a:ext cx="850392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08960" y="1700784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Calibri"/>
              </a:rPr>
              <a:t>PlantVillage (open benchmark dataset)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956816"/>
            <a:ext cx="2743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59" y="1993392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  <a:latin typeface="Calibri"/>
              </a:rPr>
              <a:t>Total Classes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40" y="1956816"/>
            <a:ext cx="8503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108960" y="1993392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Calibri"/>
              </a:rPr>
              <a:t>38 (crop + disease combinations)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249424"/>
            <a:ext cx="274320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59" y="2286000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  <a:latin typeface="Calibri"/>
              </a:rPr>
              <a:t>Label Format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63240" y="2249424"/>
            <a:ext cx="850392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108960" y="2286000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Calibri"/>
              </a:rPr>
              <a:t>Crop___Disease  (e.g. Tomato___Late_blight)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542032"/>
            <a:ext cx="2743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59" y="257860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  <a:latin typeface="Calibri"/>
              </a:rPr>
              <a:t>Healthy Label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63240" y="2542032"/>
            <a:ext cx="8503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108960" y="2578608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Calibri"/>
              </a:rPr>
              <a:t>Healthy — No disease detected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834640"/>
            <a:ext cx="274320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59" y="287121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  <a:latin typeface="Calibri"/>
              </a:rPr>
              <a:t>Image Format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63240" y="2834640"/>
            <a:ext cx="850392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108960" y="2871216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Calibri"/>
              </a:rPr>
              <a:t>JPEG, folder-per-class structure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127248"/>
            <a:ext cx="2743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59" y="3163824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  <a:latin typeface="Calibri"/>
              </a:rPr>
              <a:t>Split Strategy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63240" y="3127248"/>
            <a:ext cx="8503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108960" y="3163824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Calibri"/>
              </a:rPr>
              <a:t>Stratified  80% train  /  10% validation  /  10% test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419856"/>
            <a:ext cx="274320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59" y="3456432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  <a:latin typeface="Calibri"/>
              </a:rPr>
              <a:t>Imbalance Handling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63240" y="3419856"/>
            <a:ext cx="850392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108960" y="3456432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Calibri"/>
              </a:rPr>
              <a:t>Class-weighted cross-entropy loss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712464"/>
            <a:ext cx="2743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759" y="3749040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  <a:latin typeface="Calibri"/>
              </a:rPr>
              <a:t>Preprocessing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63240" y="3712464"/>
            <a:ext cx="8503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108960" y="3749040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Calibri"/>
              </a:rPr>
              <a:t>Resize 384×384  |  ImageNet normalisation  |  Standard augmentation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" y="49377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1B5E20"/>
                </a:solidFill>
                <a:latin typeface="Calibri"/>
              </a:rPr>
              <a:t>Sample classes:  Tomato Late Blight  |  Apple Scab  |  Corn Common Rust  |  Potato Early Blight  |  Grape Black Rot  |  Pepper Bacterial Spot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F5E9"/>
                </a:solidFill>
                <a:latin typeface="Calibri"/>
              </a:rPr>
              <a:t>What the Data Told Us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AI-Powered Plant Disease Detection  |  PlantVillage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7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164592" cy="34747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13716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B5E20"/>
                </a:solidFill>
                <a:latin typeface="Calibri"/>
              </a:rPr>
              <a:t>Class Imbalance Detected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6459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Significant variation in sample counts across 38 classes was found → directly drove the adoption of class-weighted cross-entropy loss rather than standard unweighted loss.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395728"/>
            <a:ext cx="164592" cy="34747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239572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B5E20"/>
                </a:solidFill>
                <a:latin typeface="Calibri"/>
              </a:rPr>
              <a:t>Conservative Augmentation Chosen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67004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Augmentation limited to horizontal/vertical flip, rotation, brightness jitter, and scale only. Aggressive augmentation risked unrealistic artifacts given PlantVillage's controlled, lab-quality capture conditions.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419856"/>
            <a:ext cx="164592" cy="34747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341985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B5E20"/>
                </a:solidFill>
                <a:latin typeface="Calibri"/>
              </a:rPr>
              <a:t>Domain Shift Risk Identified Early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694176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PlantVillage images are lab-captured with clean backgrounds and controlled lighting. Real field photos have variable lighting, angles, and background clutter → this finding directly drove the confidence thresholding and retake-guidance design.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443984"/>
            <a:ext cx="164592" cy="34747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444398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B5E20"/>
                </a:solidFill>
                <a:latin typeface="Calibri"/>
              </a:rPr>
              <a:t>Resolution Standardised at 384×384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71830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Chosen to balance input image quality against inference latency on mobile-targeted deployment. Larger sizes improved feature detail; smaller sizes hurt fine-grained lesion recognition.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Technology Platform &amp;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F5E9"/>
                </a:solidFill>
                <a:latin typeface="Calibri"/>
              </a:rPr>
              <a:t>How the System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AI-Powered Plant Disease Detection  |  PlantVillage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8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11548872" cy="105156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399032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Calibri"/>
              </a:rPr>
              <a:t>Client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1907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F5E9"/>
                </a:solidFill>
                <a:latin typeface="Calibri"/>
              </a:rPr>
              <a:t>Mobile Browser (HTML/CSS/JS)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371600"/>
            <a:ext cx="36576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83280" y="1463040"/>
            <a:ext cx="8321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Camera capture, image preview, compression, upload, result rendering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560320"/>
            <a:ext cx="11548872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587752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Calibri"/>
              </a:rPr>
              <a:t>API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07791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 err="1">
                <a:solidFill>
                  <a:srgbClr val="E8F5E9"/>
                </a:solidFill>
                <a:latin typeface="Calibri"/>
              </a:rPr>
              <a:t>FastAPI</a:t>
            </a:r>
            <a:r>
              <a:rPr sz="1100" b="0" i="1" dirty="0">
                <a:solidFill>
                  <a:srgbClr val="E8F5E9"/>
                </a:solidFill>
                <a:latin typeface="Calibri"/>
              </a:rPr>
              <a:t> (Python)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2560320"/>
            <a:ext cx="36576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83280" y="2651760"/>
            <a:ext cx="8321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GET /health  |  POST /infer  |  GET /analytics/summary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749039"/>
            <a:ext cx="11548872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76472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Calibri"/>
              </a:rPr>
              <a:t> CV / ML 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09651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F5E9"/>
                </a:solidFill>
                <a:latin typeface="Calibri"/>
              </a:rPr>
              <a:t>PyTorch + OpenCV + torchvision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3749039"/>
            <a:ext cx="36576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83280" y="3840480"/>
            <a:ext cx="8321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Leaf validation  →  Segmentation  →  Classification  →  Grad-CAM  →  Disease info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937760"/>
            <a:ext cx="1154887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4965192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Calibri"/>
              </a:rPr>
              <a:t>Storage &amp; Logging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28523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F5E9"/>
                </a:solidFill>
                <a:latin typeface="Calibri"/>
              </a:rPr>
              <a:t>File system + JSONL analytics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6120" y="4937760"/>
            <a:ext cx="36576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383280" y="5029200"/>
            <a:ext cx="8321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Uploaded images  |  Grad-CAM outputs  |  Inference events  |  Application logs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F5E9"/>
                </a:solidFill>
                <a:latin typeface="Calibri"/>
              </a:rPr>
              <a:t>End-to-End Computer Vision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AI-Powered Plant Disease Detection  |  PlantVillage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9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371600"/>
            <a:ext cx="1554480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8600" y="1399032"/>
            <a:ext cx="146303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 dirty="0">
                <a:solidFill>
                  <a:srgbClr val="FFFFFF"/>
                </a:solidFill>
                <a:latin typeface="Calibri"/>
              </a:rPr>
              <a:t>Capture /</a:t>
            </a:r>
            <a:r>
              <a:rPr lang="en-US" sz="1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Upload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691640"/>
            <a:ext cx="155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  <a:latin typeface="Calibr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2331720"/>
            <a:ext cx="1554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12121"/>
                </a:solidFill>
                <a:latin typeface="Calibri"/>
              </a:rPr>
              <a:t>Farmer uses mobile browser to capture or upload leaf photo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92808" y="1371600"/>
            <a:ext cx="1554480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38528" y="1399032"/>
            <a:ext cx="146303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 dirty="0">
                <a:solidFill>
                  <a:srgbClr val="FFFFFF"/>
                </a:solidFill>
                <a:latin typeface="Calibri"/>
              </a:rPr>
              <a:t>Leaf</a:t>
            </a:r>
            <a:r>
              <a:rPr lang="en-US" sz="1000" b="1" i="0" dirty="0">
                <a:solidFill>
                  <a:srgbClr val="FFFFFF"/>
                </a:solidFill>
                <a:latin typeface="Calibri"/>
              </a:rPr>
              <a:t> V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1691640"/>
            <a:ext cx="155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  <a:latin typeface="Calibr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92808" y="2331720"/>
            <a:ext cx="1554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12121"/>
                </a:solidFill>
                <a:latin typeface="Calibri"/>
              </a:rPr>
              <a:t>HSV green-ratio heuristic checks leaf presence; rejects non-leaf inputs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2736" y="1371600"/>
            <a:ext cx="1554480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48456" y="1399032"/>
            <a:ext cx="146303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 dirty="0">
                <a:solidFill>
                  <a:srgbClr val="FFFFFF"/>
                </a:solidFill>
                <a:latin typeface="Calibri"/>
              </a:rPr>
              <a:t>Multi-Leaf</a:t>
            </a:r>
            <a:r>
              <a:rPr lang="en-US" sz="1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Segment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1691640"/>
            <a:ext cx="155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  <a:latin typeface="Calibr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2736" y="2331720"/>
            <a:ext cx="1554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12121"/>
                </a:solidFill>
                <a:latin typeface="Calibri"/>
              </a:rPr>
              <a:t>OpenCV threshold + contour detection isolates up to 5 individual leaves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12664" y="1371600"/>
            <a:ext cx="1554480" cy="8686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58384" y="1399032"/>
            <a:ext cx="146303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 dirty="0">
                <a:solidFill>
                  <a:srgbClr val="FFFFFF"/>
                </a:solidFill>
                <a:latin typeface="Calibri"/>
              </a:rPr>
              <a:t>Per-Leaf</a:t>
            </a:r>
            <a:r>
              <a:rPr lang="en-US" sz="1000" b="1" i="0" dirty="0">
                <a:solidFill>
                  <a:srgbClr val="FFFFFF"/>
                </a:solidFill>
                <a:latin typeface="Calibri"/>
              </a:rPr>
              <a:t> C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lassify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67144" y="1691640"/>
            <a:ext cx="155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2331720"/>
            <a:ext cx="1554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12121"/>
                </a:solidFill>
                <a:latin typeface="Calibri"/>
              </a:rPr>
              <a:t>MobileNetV2 classifies each leaf independently as Crop + Disease label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22592" y="1371600"/>
            <a:ext cx="1554480" cy="86868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68312" y="1399032"/>
            <a:ext cx="1463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 dirty="0">
                <a:solidFill>
                  <a:srgbClr val="FFFFFF"/>
                </a:solidFill>
                <a:latin typeface="Calibri"/>
              </a:rPr>
              <a:t>Confidence
</a:t>
            </a:r>
            <a:r>
              <a:rPr lang="en-US" sz="1000" b="1" i="0" dirty="0">
                <a:solidFill>
                  <a:srgbClr val="FFFFFF"/>
                </a:solidFill>
                <a:latin typeface="Calibri"/>
              </a:rPr>
              <a:t>F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ilter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77072" y="1691640"/>
            <a:ext cx="155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  <a:latin typeface="Calibr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592" y="2331720"/>
            <a:ext cx="1554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12121"/>
                </a:solidFill>
                <a:latin typeface="Calibri"/>
              </a:rPr>
              <a:t>Predictions below 70% threshold trigger retake rather than forced guess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32520" y="1371600"/>
            <a:ext cx="1554480" cy="8686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78240" y="1399032"/>
            <a:ext cx="1463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 dirty="0">
                <a:solidFill>
                  <a:srgbClr val="FFFFFF"/>
                </a:solidFill>
                <a:latin typeface="Calibri"/>
              </a:rPr>
              <a:t>Grad-CAM
</a:t>
            </a:r>
            <a:r>
              <a:rPr lang="en-US" sz="1000" b="1" i="0" dirty="0">
                <a:solidFill>
                  <a:srgbClr val="FFFFFF"/>
                </a:solidFill>
                <a:latin typeface="Calibri"/>
              </a:rPr>
              <a:t>H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eatmap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0" y="1691640"/>
            <a:ext cx="155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  <a:latin typeface="Calibri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2331720"/>
            <a:ext cx="1554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12121"/>
                </a:solidFill>
                <a:latin typeface="Calibri"/>
              </a:rPr>
              <a:t>Visual heatmap highlights leaf regions that drove the prediction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442448" y="1371600"/>
            <a:ext cx="1554480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488168" y="1399032"/>
            <a:ext cx="146303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 dirty="0">
                <a:solidFill>
                  <a:srgbClr val="FFFFFF"/>
                </a:solidFill>
                <a:latin typeface="Calibri"/>
              </a:rPr>
              <a:t>Structured</a:t>
            </a:r>
            <a:r>
              <a:rPr lang="en-US" sz="1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Response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42448" y="2331720"/>
            <a:ext cx="1554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12121"/>
                </a:solidFill>
                <a:latin typeface="Calibri"/>
              </a:rPr>
              <a:t>Per-leaf results, confidence, description, and heatmap returned to user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" y="3291840"/>
            <a:ext cx="1179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  <a:latin typeface="Calibri"/>
              </a:rPr>
              <a:t>4 Integrated CV Techniques:  Leaf Validation  |  Classical Segmentation  |  Deep Learning Classification  |  Grad-CAM Explainability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Model Strategy &amp; Training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F5E9"/>
                </a:solidFill>
                <a:latin typeface="Calibri"/>
              </a:rPr>
              <a:t>How We Built and Selected Our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AI-Powered Plant Disease Detection  |  PlantVillage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10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3611880" cy="3200400"/>
          </a:xfrm>
          <a:prstGeom prst="rect">
            <a:avLst/>
          </a:prstGeom>
          <a:solidFill>
            <a:srgbClr val="43A047"/>
          </a:solidFill>
          <a:ln w="190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79" y="141732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12121"/>
                </a:solidFill>
                <a:latin typeface="Calibri"/>
              </a:rPr>
              <a:t>CNN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92024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212121"/>
                </a:solidFill>
                <a:latin typeface="Calibri"/>
              </a:rPr>
              <a:t>Custom from scratch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79" y="2331720"/>
            <a:ext cx="34290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42316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Lightweight benchmark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7063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Fast inference (127ms)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118103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No pretrained weights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465575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Smallest size (1.79 MB)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1371600"/>
            <a:ext cx="3611880" cy="3200400"/>
          </a:xfrm>
          <a:prstGeom prst="rect">
            <a:avLst/>
          </a:prstGeom>
          <a:solidFill>
            <a:srgbClr val="1B5E20"/>
          </a:solidFill>
          <a:ln w="190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43399" y="1417320"/>
            <a:ext cx="3429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Calibri"/>
              </a:rPr>
              <a:t>MobileNetV2</a:t>
            </a:r>
            <a:r>
              <a:rPr lang="en-US" sz="1300" b="1" i="0" dirty="0">
                <a:solidFill>
                  <a:srgbClr val="FFFFFF"/>
                </a:solidFill>
                <a:latin typeface="Calibri"/>
              </a:rPr>
              <a:t> (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 SELECTED</a:t>
            </a:r>
            <a:r>
              <a:rPr lang="en-US" sz="1300" b="1" i="0" dirty="0">
                <a:solidFill>
                  <a:srgbClr val="FFFFFF"/>
                </a:solidFill>
                <a:latin typeface="Calibri"/>
              </a:rPr>
              <a:t>)</a:t>
            </a:r>
            <a:endParaRPr sz="13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43399" y="192024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dirty="0">
                <a:solidFill>
                  <a:srgbClr val="FFFFFF"/>
                </a:solidFill>
                <a:latin typeface="Calibri"/>
              </a:rPr>
              <a:t>ImageNet pretrained +
fine-tuned head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399" y="2331720"/>
            <a:ext cx="34290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34840" y="242316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Best Accuracy 99.76%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77063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Best macro-F1  0.9950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118103"/>
            <a:ext cx="3246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Calibri"/>
              </a:rPr>
              <a:t>• 8.90 MB </a:t>
            </a:r>
            <a:r>
              <a:rPr lang="en-US" sz="1100" b="0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1100" b="0" i="0" dirty="0">
                <a:solidFill>
                  <a:srgbClr val="FFFFFF"/>
                </a:solidFill>
                <a:latin typeface="Calibri"/>
              </a:rPr>
              <a:t> deployable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465575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Transfer learning benefit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1371600"/>
            <a:ext cx="3611880" cy="3200400"/>
          </a:xfrm>
          <a:prstGeom prst="rect">
            <a:avLst/>
          </a:prstGeom>
          <a:solidFill>
            <a:srgbClr val="2E7D32"/>
          </a:solidFill>
          <a:ln w="190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75319" y="141732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Hybrid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192024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MobileNetV2 +
residual branch fusion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5319" y="2331720"/>
            <a:ext cx="34290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66759" y="242316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Strong 99.48% accuracy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59" y="277063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Largest size (18.35 MB)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59" y="3118103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Slowest inference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59" y="3465575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Comparison experiment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466344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B5E20"/>
                </a:solidFill>
                <a:latin typeface="Calibri"/>
              </a:rPr>
              <a:t>TRAINING POLICY:  Adam Optimizer  |  Max 50 Epochs  |  Early Stopping (patience=8)  |  Best-Checkpoint Restore  |  Class-Weighted Loss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074920"/>
            <a:ext cx="233172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5759" y="5111496"/>
            <a:ext cx="2240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Hyperparameter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5074920"/>
            <a:ext cx="192024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697479" y="511149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CNN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5074920"/>
            <a:ext cx="192024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617720" y="511149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MobileNetV2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5074920"/>
            <a:ext cx="192024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37959" y="511149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Hybrid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0" y="5074920"/>
            <a:ext cx="192024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58200" y="511149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332719" y="5074920"/>
            <a:ext cx="1901952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378440" y="5111496"/>
            <a:ext cx="1810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5367528"/>
            <a:ext cx="233172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65759" y="5404104"/>
            <a:ext cx="2240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12121"/>
                </a:solidFill>
                <a:latin typeface="Calibri"/>
              </a:rPr>
              <a:t>Image Size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51760" y="5367528"/>
            <a:ext cx="192024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697479" y="540410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12121"/>
                </a:solidFill>
                <a:latin typeface="Calibri"/>
              </a:rPr>
              <a:t>384×384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0" y="5367528"/>
            <a:ext cx="192024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617720" y="540410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12121"/>
                </a:solidFill>
                <a:latin typeface="Calibri"/>
              </a:rPr>
              <a:t>384×384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92240" y="5367528"/>
            <a:ext cx="192024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537959" y="540410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12121"/>
                </a:solidFill>
                <a:latin typeface="Calibri"/>
              </a:rPr>
              <a:t>384×384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12480" y="5367528"/>
            <a:ext cx="192024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458200" y="540410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0332719" y="5367528"/>
            <a:ext cx="1901952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378440" y="5404104"/>
            <a:ext cx="1810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320040" y="5660136"/>
            <a:ext cx="2331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65759" y="5696712"/>
            <a:ext cx="2240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12121"/>
                </a:solidFill>
                <a:latin typeface="Calibri"/>
              </a:rPr>
              <a:t>Batch Size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51760" y="5660136"/>
            <a:ext cx="1920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697479" y="569671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12121"/>
                </a:solidFill>
                <a:latin typeface="Calibri"/>
              </a:rPr>
              <a:t>16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0" y="5660136"/>
            <a:ext cx="1920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617720" y="569671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12121"/>
                </a:solidFill>
                <a:latin typeface="Calibri"/>
              </a:rPr>
              <a:t>16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92240" y="5660136"/>
            <a:ext cx="1920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537959" y="569671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12121"/>
                </a:solidFill>
                <a:latin typeface="Calibri"/>
              </a:rPr>
              <a:t>12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412480" y="5660136"/>
            <a:ext cx="1920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458200" y="569671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10332719" y="5660136"/>
            <a:ext cx="190195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378440" y="5696712"/>
            <a:ext cx="1810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320040" y="5952744"/>
            <a:ext cx="233172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65759" y="5989320"/>
            <a:ext cx="2240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12121"/>
                </a:solidFill>
                <a:latin typeface="Calibri"/>
              </a:rPr>
              <a:t>Learning Rate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651760" y="5952744"/>
            <a:ext cx="192024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697479" y="598932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12121"/>
                </a:solidFill>
                <a:latin typeface="Calibri"/>
              </a:rPr>
              <a:t>1e-3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72000" y="5952744"/>
            <a:ext cx="192024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617720" y="598932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12121"/>
                </a:solidFill>
                <a:latin typeface="Calibri"/>
              </a:rPr>
              <a:t>1e-4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92240" y="5952744"/>
            <a:ext cx="192024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537959" y="598932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12121"/>
                </a:solidFill>
                <a:latin typeface="Calibri"/>
              </a:rPr>
              <a:t>1e-4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412480" y="5952744"/>
            <a:ext cx="192024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458200" y="598932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0332719" y="5952744"/>
            <a:ext cx="1901952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0378440" y="5989320"/>
            <a:ext cx="1810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Literature Review &amp; Benchmark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F5E9"/>
                </a:solidFill>
                <a:latin typeface="Calibri"/>
              </a:rPr>
              <a:t>Building on Established Research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AI-Powered Plant Disease Detection  |  PlantVillage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11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182880" cy="7315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37160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  <a:latin typeface="Calibri"/>
              </a:rPr>
              <a:t>Mohanty et al. (2016)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12121"/>
                </a:solidFill>
                <a:latin typeface="Calibri"/>
              </a:rPr>
              <a:t>Using Deep Learning for Image-Based Plant Disease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892807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Pioneering PlantVillage deep learning study achieving ~99% accuracy under controlled conditions — established the benchmark this project targets.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606040"/>
            <a:ext cx="182880" cy="7315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6060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  <a:latin typeface="Calibri"/>
              </a:rPr>
              <a:t>Howard et al. (2017)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803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12121"/>
                </a:solidFill>
                <a:latin typeface="Calibri"/>
              </a:rPr>
              <a:t>MobileNets: Efficient Convolutional Neural Networks for Mobile Vision Applications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1272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Introduced MobileNetV2 as an efficient, lightweight architecture for mobile vision tasks — our primary deployment model.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840480"/>
            <a:ext cx="182880" cy="7315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38404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  <a:latin typeface="Calibri"/>
              </a:rPr>
              <a:t>Selvaraju et al. (2017)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1148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12121"/>
                </a:solidFill>
                <a:latin typeface="Calibri"/>
              </a:rPr>
              <a:t>Grad-CAM: Visual Explanations from Deep Networks via Gradient-based Localization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36168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Proposed Grad-CAM for visual explainability in CNNs — directly adopted in our inference pipeline for per-leaf heatmap generation.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074920"/>
            <a:ext cx="182880" cy="7315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507492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  <a:latin typeface="Calibri"/>
              </a:rPr>
              <a:t>Our Contribution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3492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12121"/>
                </a:solidFill>
                <a:latin typeface="Calibri"/>
              </a:rPr>
              <a:t>End-to-End Deployable Prototype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5961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Multi-leaf segmentation + transfer learning classification + Grad-CAM explainability in a single mobile API — with practical confidence thresholding for field-safe inference.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Results &amp; Model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F5E9"/>
                </a:solidFill>
                <a:latin typeface="Calibri"/>
              </a:rPr>
              <a:t>MobileNetV2 Delivers Best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AI-Powered Plant Disease Detection  |  PlantVillage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12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228600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59" y="140817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1371600"/>
            <a:ext cx="146304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51760" y="140817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1371600"/>
            <a:ext cx="146304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0" y="140817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32120" y="1371600"/>
            <a:ext cx="146304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77840" y="140817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95160" y="1371600"/>
            <a:ext cx="146304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0" y="140817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F1-Score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1371600"/>
            <a:ext cx="155448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0" y="1408176"/>
            <a:ext cx="1463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Speed (ms)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12680" y="1371600"/>
            <a:ext cx="1490472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0" y="1408176"/>
            <a:ext cx="13990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Size (MB)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1664208"/>
            <a:ext cx="228600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59" y="1700784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  <a:latin typeface="Calibri"/>
              </a:rPr>
              <a:t>CNN Baseline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40" y="1664208"/>
            <a:ext cx="146304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651760" y="170078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Calibri"/>
              </a:rPr>
              <a:t>98.78%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69080" y="1664208"/>
            <a:ext cx="146304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0" y="170078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Calibri"/>
              </a:rPr>
              <a:t>98.44%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32120" y="1664208"/>
            <a:ext cx="146304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77840" y="170078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Calibri"/>
              </a:rPr>
              <a:t>98.82%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95160" y="1664208"/>
            <a:ext cx="146304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0" y="170078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Calibri"/>
              </a:rPr>
              <a:t>98.61%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58200" y="1664208"/>
            <a:ext cx="155448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03920" y="1700784"/>
            <a:ext cx="1463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Calibri"/>
              </a:rPr>
              <a:t>127.8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12680" y="1664208"/>
            <a:ext cx="1490472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58400" y="1700784"/>
            <a:ext cx="13990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Calibri"/>
              </a:rPr>
              <a:t>1.79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1956816"/>
            <a:ext cx="22860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59" y="199339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  <a:latin typeface="Calibri"/>
              </a:rPr>
              <a:t>MobileNetV2 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06040" y="1956816"/>
            <a:ext cx="14630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651760" y="199339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Calibri"/>
              </a:rPr>
              <a:t>99.76%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69080" y="1956816"/>
            <a:ext cx="14630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0" y="199339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Calibri"/>
              </a:rPr>
              <a:t>99.38%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32120" y="1956816"/>
            <a:ext cx="14630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577840" y="199339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Calibri"/>
              </a:rPr>
              <a:t>99.65%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95160" y="1956816"/>
            <a:ext cx="14630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040880" y="199339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Calibri"/>
              </a:rPr>
              <a:t>99.50%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58200" y="1956816"/>
            <a:ext cx="15544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503920" y="1993392"/>
            <a:ext cx="1463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Calibri"/>
              </a:rPr>
              <a:t>201.4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012680" y="1956816"/>
            <a:ext cx="149047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058400" y="1993392"/>
            <a:ext cx="13990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Calibri"/>
              </a:rPr>
              <a:t>8.90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2249424"/>
            <a:ext cx="228600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65759" y="2286000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  <a:latin typeface="Calibri"/>
              </a:rPr>
              <a:t>Hybrid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06040" y="2249424"/>
            <a:ext cx="146304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651760" y="228600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Calibri"/>
              </a:rPr>
              <a:t>99.48%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069080" y="2249424"/>
            <a:ext cx="146304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114800" y="228600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Calibri"/>
              </a:rPr>
              <a:t>98.99%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532120" y="2249424"/>
            <a:ext cx="146304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577840" y="228600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Calibri"/>
              </a:rPr>
              <a:t>99.39%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95160" y="2249424"/>
            <a:ext cx="146304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040880" y="228600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Calibri"/>
              </a:rPr>
              <a:t>99.17%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58200" y="2249424"/>
            <a:ext cx="155448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503920" y="2286000"/>
            <a:ext cx="1463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Calibri"/>
              </a:rPr>
              <a:t>206.4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012680" y="2249424"/>
            <a:ext cx="1490472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058400" y="2286000"/>
            <a:ext cx="13990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Calibri"/>
              </a:rPr>
              <a:t>18.35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0040" y="333756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  <a:latin typeface="Calibri"/>
              </a:rPr>
              <a:t>WHY MobileNetV2 WAS SELECTED FOR DEPLOYMENT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0040" y="3730752"/>
            <a:ext cx="11521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2E7D32"/>
                </a:solidFill>
                <a:latin typeface="Calibri"/>
              </a:rPr>
              <a:t>● </a:t>
            </a:r>
            <a:r>
              <a:rPr sz="1250">
                <a:solidFill>
                  <a:srgbClr val="212121"/>
                </a:solidFill>
                <a:latin typeface="Calibri"/>
              </a:rPr>
              <a:t>Highest observed Accuracy (99.76%) and macro-F1 (0.9950) among all three compared models.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2E7D32"/>
                </a:solidFill>
                <a:latin typeface="Calibri"/>
              </a:rPr>
              <a:t>● </a:t>
            </a:r>
            <a:r>
              <a:rPr sz="1250">
                <a:solidFill>
                  <a:srgbClr val="212121"/>
                </a:solidFill>
                <a:latin typeface="Calibri"/>
              </a:rPr>
              <a:t>Better deployability than Hybrid — 2× smaller model size (8.90 MB vs 18.35 MB) with comparable quality.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2E7D32"/>
                </a:solidFill>
                <a:latin typeface="Calibri"/>
              </a:rPr>
              <a:t>● </a:t>
            </a:r>
            <a:r>
              <a:rPr sz="1250">
                <a:solidFill>
                  <a:srgbClr val="212121"/>
                </a:solidFill>
                <a:latin typeface="Calibri"/>
              </a:rPr>
              <a:t>Slightly faster benchmarked inference (201 ms) than Hybrid (206 ms) in recorded evaluation runs.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2E7D32"/>
                </a:solidFill>
                <a:latin typeface="Calibri"/>
              </a:rPr>
              <a:t>● </a:t>
            </a:r>
            <a:r>
              <a:rPr sz="1250">
                <a:solidFill>
                  <a:srgbClr val="212121"/>
                </a:solidFill>
                <a:latin typeface="Calibri"/>
              </a:rPr>
              <a:t>Best production trade-off of quality, speed, and footprint for mobile-first field deployment.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Demo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F5E9"/>
                </a:solidFill>
                <a:latin typeface="Calibri"/>
              </a:rPr>
              <a:t>The System in Action — Four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AI-Powered Plant Disease Detection  |  PlantVillage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13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2651760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79" y="141732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✅  Healthy Leaf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764792"/>
            <a:ext cx="2468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FFFFFF"/>
                </a:solidFill>
                <a:latin typeface="Calibri"/>
              </a:rPr>
              <a:t>No disease detected
Confidence shown
Grad-CAM rendered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27832" y="1371600"/>
            <a:ext cx="2651760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19272" y="141732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🦠  Diseased Leaf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9272" y="1764792"/>
            <a:ext cx="2468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FFFFFF"/>
                </a:solidFill>
                <a:latin typeface="Calibri"/>
              </a:rPr>
              <a:t>Crop + Disease label
Confidence ≥ 70%
Grad-CAM heatmap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35624" y="1371600"/>
            <a:ext cx="2651760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27064" y="141732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🌿  Multi-Leaf Mixed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7064" y="1764792"/>
            <a:ext cx="2468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FFFFFF"/>
                </a:solidFill>
                <a:latin typeface="Calibri"/>
              </a:rPr>
              <a:t>Per-leaf results
Mixed healthy / diseased
Up to 5 leaves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43416" y="1371600"/>
            <a:ext cx="2651760" cy="9144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34856" y="141732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❌  Invalid 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4856" y="1764792"/>
            <a:ext cx="2468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FFFFFF"/>
                </a:solidFill>
                <a:latin typeface="Calibri"/>
              </a:rPr>
              <a:t>"No leaf detected.
Please retake
the photo."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242316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  <a:latin typeface="Calibri"/>
              </a:rPr>
              <a:t>KEY FEATURE HIGHLIGHTS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2761488"/>
            <a:ext cx="115214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 dirty="0">
                <a:solidFill>
                  <a:srgbClr val="2E7D32"/>
                </a:solidFill>
                <a:latin typeface="Calibri"/>
              </a:rPr>
              <a:t>● </a:t>
            </a:r>
            <a:r>
              <a:rPr sz="1250" dirty="0">
                <a:solidFill>
                  <a:srgbClr val="212121"/>
                </a:solidFill>
                <a:latin typeface="Calibri"/>
              </a:rPr>
              <a:t>Grad-CAM heatmaps show exactly which part of the leaf drove the diagnosis </a:t>
            </a:r>
            <a:r>
              <a:rPr lang="en-US" sz="1250" dirty="0">
                <a:solidFill>
                  <a:srgbClr val="212121"/>
                </a:solidFill>
                <a:latin typeface="Calibri"/>
              </a:rPr>
              <a:t>,</a:t>
            </a:r>
            <a:r>
              <a:rPr sz="1250" dirty="0">
                <a:solidFill>
                  <a:srgbClr val="212121"/>
                </a:solidFill>
                <a:latin typeface="Calibri"/>
              </a:rPr>
              <a:t> decision-support evidence visible to farmers and extension officers.</a:t>
            </a:r>
          </a:p>
          <a:p>
            <a:pPr>
              <a:spcBef>
                <a:spcPts val="400"/>
              </a:spcBef>
            </a:pPr>
            <a:r>
              <a:rPr sz="1250" dirty="0">
                <a:solidFill>
                  <a:srgbClr val="2E7D32"/>
                </a:solidFill>
                <a:latin typeface="Calibri"/>
              </a:rPr>
              <a:t>● </a:t>
            </a:r>
            <a:r>
              <a:rPr sz="1250" dirty="0">
                <a:solidFill>
                  <a:srgbClr val="212121"/>
                </a:solidFill>
                <a:latin typeface="Calibri"/>
              </a:rPr>
              <a:t>Confidence scores (0–100%) give farmers a reliability signal before acting on a recommendation </a:t>
            </a:r>
            <a:r>
              <a:rPr lang="en-US" sz="1250" dirty="0">
                <a:solidFill>
                  <a:srgbClr val="212121"/>
                </a:solidFill>
                <a:latin typeface="Calibri"/>
              </a:rPr>
              <a:t>,</a:t>
            </a:r>
            <a:r>
              <a:rPr sz="1250" dirty="0">
                <a:solidFill>
                  <a:srgbClr val="212121"/>
                </a:solidFill>
                <a:latin typeface="Calibri"/>
              </a:rPr>
              <a:t> transparent uncertainty quantification.</a:t>
            </a:r>
          </a:p>
          <a:p>
            <a:pPr>
              <a:spcBef>
                <a:spcPts val="400"/>
              </a:spcBef>
            </a:pPr>
            <a:r>
              <a:rPr sz="1250" dirty="0">
                <a:solidFill>
                  <a:srgbClr val="2E7D32"/>
                </a:solidFill>
                <a:latin typeface="Calibri"/>
              </a:rPr>
              <a:t>● </a:t>
            </a:r>
            <a:r>
              <a:rPr sz="1250" dirty="0">
                <a:solidFill>
                  <a:srgbClr val="212121"/>
                </a:solidFill>
                <a:latin typeface="Calibri"/>
              </a:rPr>
              <a:t>Edge case handling prevents silent misclassification: the system asks for a better photo rather than returning a wrong answer at low confidence.</a:t>
            </a:r>
          </a:p>
          <a:p>
            <a:pPr>
              <a:spcBef>
                <a:spcPts val="400"/>
              </a:spcBef>
            </a:pPr>
            <a:r>
              <a:rPr sz="1250" dirty="0">
                <a:solidFill>
                  <a:srgbClr val="2E7D32"/>
                </a:solidFill>
                <a:latin typeface="Calibri"/>
              </a:rPr>
              <a:t>● </a:t>
            </a:r>
            <a:r>
              <a:rPr sz="1250" dirty="0">
                <a:solidFill>
                  <a:srgbClr val="212121"/>
                </a:solidFill>
                <a:latin typeface="Calibri"/>
              </a:rPr>
              <a:t>Multi-leaf support processes up to 5 leaves per image independently </a:t>
            </a:r>
            <a:r>
              <a:rPr lang="en-US" sz="1250" dirty="0">
                <a:solidFill>
                  <a:srgbClr val="212121"/>
                </a:solidFill>
                <a:latin typeface="Calibri"/>
              </a:rPr>
              <a:t>,</a:t>
            </a:r>
            <a:r>
              <a:rPr sz="1250" dirty="0">
                <a:solidFill>
                  <a:srgbClr val="212121"/>
                </a:solidFill>
                <a:latin typeface="Calibri"/>
              </a:rPr>
              <a:t> useful for batch field triage of multiple plants in a single photo.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Risks, Limitations &amp; Mitigations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F5E9"/>
                </a:solidFill>
                <a:latin typeface="Calibri"/>
              </a:rPr>
              <a:t>Honest Assessment — We Built the System to Fail Safely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AI-Powered Plant Disease Detection  |  PlantVillage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14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347472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59" y="1408176"/>
            <a:ext cx="3383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Risk / Limitation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94759" y="1371600"/>
            <a:ext cx="137160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79" y="1408176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Severity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66359" y="1371600"/>
            <a:ext cx="6839712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12079" y="1408176"/>
            <a:ext cx="6748272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FFFFFF"/>
                </a:solidFill>
                <a:latin typeface="Calibri"/>
              </a:rPr>
              <a:t>Mitigation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664208"/>
            <a:ext cx="347472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59" y="1700784"/>
            <a:ext cx="3383279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212121"/>
                </a:solidFill>
                <a:latin typeface="Calibri"/>
              </a:rPr>
              <a:t>PlantVillage → Field Domain Shift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94759" y="1664208"/>
            <a:ext cx="137160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0479" y="1700784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🔴 HIGH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66359" y="1664208"/>
            <a:ext cx="6839712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12079" y="1700784"/>
            <a:ext cx="6748272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212121"/>
                </a:solidFill>
                <a:latin typeface="Calibri"/>
              </a:rPr>
              <a:t>Confidence thresholding + retake guidance; field data collection roadmap for V2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956816"/>
            <a:ext cx="3474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59" y="1993392"/>
            <a:ext cx="338327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 dirty="0">
                <a:solidFill>
                  <a:srgbClr val="212121"/>
                </a:solidFill>
                <a:latin typeface="Calibri"/>
              </a:rPr>
              <a:t>Classical Segmentation Failure</a:t>
            </a:r>
            <a:r>
              <a:rPr lang="en-US" sz="1050" b="1" i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050" b="1" i="0" dirty="0">
                <a:solidFill>
                  <a:srgbClr val="212121"/>
                </a:solidFill>
                <a:latin typeface="Calibri"/>
              </a:rPr>
              <a:t>(clutter / heavy shadow)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94759" y="1956816"/>
            <a:ext cx="1371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40479" y="199339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🟡 MED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66359" y="1956816"/>
            <a:ext cx="68397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12079" y="1993392"/>
            <a:ext cx="6748272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212121"/>
                </a:solidFill>
                <a:latin typeface="Calibri"/>
              </a:rPr>
              <a:t>Confidence filtering rejects uncertain outputs; V2 roadmap: deep segmentation (SAM)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249424"/>
            <a:ext cx="347472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59" y="2286000"/>
            <a:ext cx="3383279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 dirty="0">
                <a:solidFill>
                  <a:srgbClr val="212121"/>
                </a:solidFill>
                <a:latin typeface="Calibri"/>
              </a:rPr>
              <a:t>Limited to 38 </a:t>
            </a:r>
            <a:r>
              <a:rPr sz="1150" b="1" i="0" dirty="0" err="1">
                <a:solidFill>
                  <a:srgbClr val="212121"/>
                </a:solidFill>
                <a:latin typeface="Calibri"/>
              </a:rPr>
              <a:t>PlantVillage</a:t>
            </a:r>
            <a:r>
              <a:rPr sz="1150" b="1" i="0" dirty="0">
                <a:solidFill>
                  <a:srgbClr val="212121"/>
                </a:solidFill>
                <a:latin typeface="Calibri"/>
              </a:rPr>
              <a:t> Classes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94759" y="2249424"/>
            <a:ext cx="137160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840479" y="228600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🟡 MED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66359" y="2249424"/>
            <a:ext cx="6839712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12079" y="2286000"/>
            <a:ext cx="6748272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 dirty="0">
                <a:solidFill>
                  <a:srgbClr val="212121"/>
                </a:solidFill>
                <a:latin typeface="Calibri"/>
              </a:rPr>
              <a:t>Architecture is fully extensible</a:t>
            </a:r>
            <a:r>
              <a:rPr lang="en-US" sz="1150" b="0" i="0" dirty="0">
                <a:solidFill>
                  <a:srgbClr val="212121"/>
                </a:solidFill>
                <a:latin typeface="Calibri"/>
              </a:rPr>
              <a:t>, </a:t>
            </a:r>
            <a:r>
              <a:rPr sz="1150" b="0" i="0" dirty="0">
                <a:solidFill>
                  <a:srgbClr val="212121"/>
                </a:solidFill>
                <a:latin typeface="Calibri"/>
              </a:rPr>
              <a:t>adding classes requires retraining only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2542032"/>
            <a:ext cx="3474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59" y="2578608"/>
            <a:ext cx="3383279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212121"/>
                </a:solidFill>
                <a:latin typeface="Calibri"/>
              </a:rPr>
              <a:t>No Offline / Native App Support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94759" y="2542032"/>
            <a:ext cx="1371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840479" y="257860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🟡 MED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66359" y="2542032"/>
            <a:ext cx="68397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212079" y="2578608"/>
            <a:ext cx="6748272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 dirty="0">
                <a:solidFill>
                  <a:srgbClr val="212121"/>
                </a:solidFill>
                <a:latin typeface="Calibri"/>
              </a:rPr>
              <a:t>Progressive Web App (PWA) packaging planned for V2 sprint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2834640"/>
            <a:ext cx="347472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5759" y="2871216"/>
            <a:ext cx="3383279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212121"/>
                </a:solidFill>
                <a:latin typeface="Calibri"/>
              </a:rPr>
              <a:t>Single Language (English)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94759" y="2834640"/>
            <a:ext cx="137160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840479" y="2871216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🟢 LOW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66359" y="2834640"/>
            <a:ext cx="6839712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212079" y="2871216"/>
            <a:ext cx="6748272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 dirty="0">
                <a:solidFill>
                  <a:srgbClr val="212121"/>
                </a:solidFill>
                <a:latin typeface="Calibri"/>
              </a:rPr>
              <a:t>Multilingual advisory (Swahili, Hindi, French) planned for V2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5376672"/>
            <a:ext cx="11548872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11480" y="5404104"/>
            <a:ext cx="11338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KEY MESSAGE:  When uncertain, the system asks for a better photo rather than guessing wrong </a:t>
            </a:r>
            <a:r>
              <a:rPr lang="en-US" sz="1200" b="1" i="0" dirty="0">
                <a:solidFill>
                  <a:srgbClr val="FFFFFF"/>
                </a:solidFill>
                <a:latin typeface="Calibri"/>
              </a:rPr>
              <a:t>(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 safety-first design for field use</a:t>
            </a:r>
            <a:r>
              <a:rPr lang="en-US" sz="1200" b="1" i="0" dirty="0">
                <a:solidFill>
                  <a:srgbClr val="FFFFFF"/>
                </a:solidFill>
                <a:latin typeface="Calibri"/>
              </a:rPr>
              <a:t>)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Next Steps &amp; Path to Production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F5E9"/>
                </a:solidFill>
                <a:latin typeface="Calibri"/>
              </a:rPr>
              <a:t>From Prototype to Field-Ready Product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AI-Powered Plant Disease Detection  |  PlantVillage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15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3611880" cy="640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79" y="1417320"/>
            <a:ext cx="3429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Calibri"/>
              </a:rPr>
              <a:t>Phase 1
</a:t>
            </a:r>
            <a:r>
              <a:rPr lang="en-US" sz="1300" b="1" i="0" dirty="0">
                <a:solidFill>
                  <a:srgbClr val="FFFFFF"/>
                </a:solidFill>
                <a:latin typeface="Calibri"/>
              </a:rPr>
              <a:t>1 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→  Collect &amp; label real-field photos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8716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→  Fine-tune MobileNetV2 on field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71215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→  Replace classical with deep segmentation (SAM)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55263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→  Extension officer usability pilot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1371600"/>
            <a:ext cx="3611880" cy="6400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43399" y="1417320"/>
            <a:ext cx="3429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Calibri"/>
              </a:rPr>
              <a:t>Phase 2
</a:t>
            </a:r>
            <a:r>
              <a:rPr lang="en-US" sz="1300" b="1" i="0" dirty="0">
                <a:solidFill>
                  <a:srgbClr val="FFFFFF"/>
                </a:solidFill>
                <a:latin typeface="Calibri"/>
              </a:rPr>
              <a:t>2 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10312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→  Package as PWA for offline mobile 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48716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→  Multilingual support (Swahili, Hindi, French)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871215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→  Treatment recommendation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255263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→  Cloud deployment with autoscaling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1371600"/>
            <a:ext cx="3611880" cy="6400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75319" y="1417320"/>
            <a:ext cx="3429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Calibri"/>
              </a:rPr>
              <a:t>Phase 3
</a:t>
            </a:r>
            <a:r>
              <a:rPr lang="en-US" sz="1300" b="1" dirty="0">
                <a:solidFill>
                  <a:srgbClr val="FFFFFF"/>
                </a:solidFill>
                <a:latin typeface="Calibri"/>
              </a:rPr>
              <a:t>6 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Months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10312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→  Expand to additional crop/disease classes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48716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→  On-device model optimisation (TFLite/ONNX)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871215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→  Integration with agricultural advisory systems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255263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→  Monitored production rollout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448056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  <a:latin typeface="Calibri"/>
              </a:rPr>
              <a:t>RESOURCE REQUIREMENTS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4828032"/>
            <a:ext cx="11521440" cy="74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dirty="0">
                <a:solidFill>
                  <a:srgbClr val="2E7D32"/>
                </a:solidFill>
                <a:latin typeface="Calibri"/>
              </a:rPr>
              <a:t>● </a:t>
            </a:r>
            <a:r>
              <a:rPr sz="1200" dirty="0">
                <a:solidFill>
                  <a:srgbClr val="212121"/>
                </a:solidFill>
                <a:latin typeface="Calibri"/>
              </a:rPr>
              <a:t>Field data collection: partnership with agricultural NGOs or government extension services for labelled real-world images.</a:t>
            </a:r>
          </a:p>
          <a:p>
            <a:pPr>
              <a:spcBef>
                <a:spcPts val="400"/>
              </a:spcBef>
            </a:pPr>
            <a:r>
              <a:rPr sz="1200" dirty="0">
                <a:solidFill>
                  <a:srgbClr val="2E7D32"/>
                </a:solidFill>
                <a:latin typeface="Calibri"/>
              </a:rPr>
              <a:t>● </a:t>
            </a:r>
            <a:r>
              <a:rPr sz="1200" dirty="0">
                <a:solidFill>
                  <a:srgbClr val="212121"/>
                </a:solidFill>
                <a:latin typeface="Calibri"/>
              </a:rPr>
              <a:t>Cloud deployment: minimal infrastructure cost for MVP scale </a:t>
            </a:r>
            <a:r>
              <a:rPr lang="en-US" sz="1200" dirty="0">
                <a:solidFill>
                  <a:srgbClr val="212121"/>
                </a:solidFill>
                <a:latin typeface="Calibri"/>
              </a:rPr>
              <a:t>,</a:t>
            </a:r>
            <a:r>
              <a:rPr sz="1200" dirty="0">
                <a:solidFill>
                  <a:srgbClr val="212121"/>
                </a:solidFill>
                <a:latin typeface="Calibri"/>
              </a:rPr>
              <a:t> standard cloud VM or container service sufficient.</a:t>
            </a:r>
          </a:p>
          <a:p>
            <a:pPr>
              <a:spcBef>
                <a:spcPts val="400"/>
              </a:spcBef>
            </a:pPr>
            <a:r>
              <a:rPr sz="1200" dirty="0">
                <a:solidFill>
                  <a:srgbClr val="2E7D32"/>
                </a:solidFill>
                <a:latin typeface="Calibri"/>
              </a:rPr>
              <a:t>● </a:t>
            </a:r>
            <a:r>
              <a:rPr sz="1200" dirty="0">
                <a:solidFill>
                  <a:srgbClr val="212121"/>
                </a:solidFill>
                <a:latin typeface="Calibri"/>
              </a:rPr>
              <a:t>Team: 1–2 ML engineers for fine-tuning and domain adaptation sprint; 1 mobile developer for PWA packaging.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Appendix A — Technical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F5E9"/>
                </a:solidFill>
                <a:latin typeface="Calibri"/>
              </a:rPr>
              <a:t>Hyperparameters, Architecture &amp; Config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AI-Powered Plant Disease Detection  |  PlantVillage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16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301752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59" y="1408176"/>
            <a:ext cx="2926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Hyperparameter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371600"/>
            <a:ext cx="228600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79" y="140817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CNN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3560" y="1371600"/>
            <a:ext cx="228600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0" y="140817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MobileNetV2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9560" y="1371600"/>
            <a:ext cx="228600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0" y="140817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Hybrid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95560" y="1371600"/>
            <a:ext cx="1901952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41280" y="1408176"/>
            <a:ext cx="1810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Notes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1664208"/>
            <a:ext cx="301752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59" y="1700784"/>
            <a:ext cx="2926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12121"/>
                </a:solidFill>
                <a:latin typeface="Calibri"/>
              </a:rPr>
              <a:t>Image Size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1664208"/>
            <a:ext cx="228600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83279" y="1700784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384×384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1664208"/>
            <a:ext cx="228600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0" y="1700784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384×384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09560" y="1664208"/>
            <a:ext cx="228600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55280" y="1700784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384×384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95560" y="1664208"/>
            <a:ext cx="1901952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41280" y="1700784"/>
            <a:ext cx="1810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Configurable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1956816"/>
            <a:ext cx="3017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59" y="1993392"/>
            <a:ext cx="2926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12121"/>
                </a:solidFill>
                <a:latin typeface="Calibri"/>
              </a:rPr>
              <a:t>Batch Size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37560" y="1956816"/>
            <a:ext cx="22860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83279" y="199339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16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23560" y="1956816"/>
            <a:ext cx="22860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0" y="199339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16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09560" y="1956816"/>
            <a:ext cx="22860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55280" y="199339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95560" y="1956816"/>
            <a:ext cx="190195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241280" y="1993392"/>
            <a:ext cx="1810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GPU memory fit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2249424"/>
            <a:ext cx="301752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5759" y="2286000"/>
            <a:ext cx="2926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12121"/>
                </a:solidFill>
                <a:latin typeface="Calibri"/>
              </a:rPr>
              <a:t>Learning Rate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37560" y="2249424"/>
            <a:ext cx="228600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383279" y="2286000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1e-3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23560" y="2249424"/>
            <a:ext cx="228600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669280" y="2286000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1e-4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09560" y="2249424"/>
            <a:ext cx="228600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955280" y="2286000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1e-4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195560" y="2249424"/>
            <a:ext cx="1901952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241280" y="2286000"/>
            <a:ext cx="1810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Adam optimiser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2542032"/>
            <a:ext cx="3017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65759" y="2578608"/>
            <a:ext cx="2926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12121"/>
                </a:solidFill>
                <a:latin typeface="Calibri"/>
              </a:rPr>
              <a:t>Max Epochs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37560" y="2542032"/>
            <a:ext cx="22860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383279" y="257860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50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23560" y="2542032"/>
            <a:ext cx="22860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669280" y="257860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50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09560" y="2542032"/>
            <a:ext cx="22860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955280" y="257860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50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195560" y="2542032"/>
            <a:ext cx="190195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241280" y="2578608"/>
            <a:ext cx="1810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Early stop applies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2834640"/>
            <a:ext cx="301752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65759" y="2871216"/>
            <a:ext cx="2926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12121"/>
                </a:solidFill>
                <a:latin typeface="Calibri"/>
              </a:rPr>
              <a:t>Early Stop Patience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337560" y="2834640"/>
            <a:ext cx="228600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383279" y="287121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23560" y="2834640"/>
            <a:ext cx="228600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669280" y="287121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909560" y="2834640"/>
            <a:ext cx="228600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955280" y="287121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195560" y="2834640"/>
            <a:ext cx="1901952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241280" y="2871216"/>
            <a:ext cx="1810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Val loss monitor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0040" y="3127248"/>
            <a:ext cx="3017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65759" y="3163824"/>
            <a:ext cx="2926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12121"/>
                </a:solidFill>
                <a:latin typeface="Calibri"/>
              </a:rPr>
              <a:t>Model Size (MB)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37560" y="3127248"/>
            <a:ext cx="22860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383279" y="3163824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1.79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23560" y="3127248"/>
            <a:ext cx="22860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669280" y="3163824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8.90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909560" y="3127248"/>
            <a:ext cx="22860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955280" y="3163824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18.35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195560" y="3127248"/>
            <a:ext cx="190195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0241280" y="3163824"/>
            <a:ext cx="1810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Deployment weight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0040" y="3419856"/>
            <a:ext cx="301752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65759" y="3456432"/>
            <a:ext cx="2926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12121"/>
                </a:solidFill>
                <a:latin typeface="Calibri"/>
              </a:rPr>
              <a:t>Inference (ms)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337560" y="3419856"/>
            <a:ext cx="228600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383279" y="345643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127.8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23560" y="3419856"/>
            <a:ext cx="228600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669280" y="345643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201.4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909560" y="3419856"/>
            <a:ext cx="228600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955280" y="345643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206.4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195560" y="3419856"/>
            <a:ext cx="1901952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0241280" y="3456432"/>
            <a:ext cx="1810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CPU benchmark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3488" y="41080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1B5E20"/>
                </a:solidFill>
                <a:latin typeface="Calibri"/>
              </a:rPr>
              <a:t>Confidence Threshold: 0.70 (configurable via .env)   |   Max Leaves per Image: 5   |   Leaf Validation: HSV green-ratio heuristic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33488" y="447383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1B5E20"/>
                </a:solidFill>
                <a:latin typeface="Calibri"/>
              </a:rPr>
              <a:t>Grad-CAM Target: Final conv block of MobileNetV2   |   Segmentation: OpenCV threshold + contour detection   |   Deployment: FastAPI + uvicorn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20040" y="4873218"/>
            <a:ext cx="301752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365759" y="4909794"/>
            <a:ext cx="2926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Endpoint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337560" y="4873218"/>
            <a:ext cx="8851392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383279" y="4909794"/>
            <a:ext cx="8759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20040" y="5165826"/>
            <a:ext cx="301752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365759" y="5202402"/>
            <a:ext cx="2926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12121"/>
                </a:solidFill>
                <a:latin typeface="Calibri"/>
              </a:rPr>
              <a:t>GET  /health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337560" y="5165826"/>
            <a:ext cx="8851392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3383279" y="5202402"/>
            <a:ext cx="8759952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 dirty="0">
                <a:solidFill>
                  <a:srgbClr val="212121"/>
                </a:solidFill>
                <a:latin typeface="Calibri"/>
              </a:rPr>
              <a:t>Service health check </a:t>
            </a:r>
            <a:r>
              <a:rPr lang="en-US" sz="1150" b="0" i="0" dirty="0">
                <a:solidFill>
                  <a:srgbClr val="212121"/>
                </a:solidFill>
                <a:latin typeface="Calibri"/>
              </a:rPr>
              <a:t>-</a:t>
            </a:r>
            <a:r>
              <a:rPr sz="1150" b="0" i="0" dirty="0">
                <a:solidFill>
                  <a:srgbClr val="212121"/>
                </a:solidFill>
                <a:latin typeface="Calibri"/>
              </a:rPr>
              <a:t> returns model loaded status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20040" y="5458434"/>
            <a:ext cx="3017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365759" y="5495010"/>
            <a:ext cx="2926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12121"/>
                </a:solidFill>
                <a:latin typeface="Calibri"/>
              </a:rPr>
              <a:t>POST /infer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337560" y="5458434"/>
            <a:ext cx="88513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3383279" y="5495010"/>
            <a:ext cx="8759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Multipart image upload → full CV pipeline → per-leaf JSON response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20040" y="5751042"/>
            <a:ext cx="301752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365759" y="5787618"/>
            <a:ext cx="2926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12121"/>
                </a:solidFill>
                <a:latin typeface="Calibri"/>
              </a:rPr>
              <a:t>GET  /analytics/summary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337560" y="5751042"/>
            <a:ext cx="8851392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3383279" y="5787618"/>
            <a:ext cx="8759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Aggregated inference stats: count, avg confidence, class frequency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2190</Words>
  <Application>Microsoft Office PowerPoint</Application>
  <PresentationFormat>Custom</PresentationFormat>
  <Paragraphs>368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Ayman Rabaya</cp:lastModifiedBy>
  <cp:revision>3</cp:revision>
  <dcterms:created xsi:type="dcterms:W3CDTF">2013-01-27T09:14:16Z</dcterms:created>
  <dcterms:modified xsi:type="dcterms:W3CDTF">2026-03-08T23:58:29Z</dcterms:modified>
  <cp:category/>
</cp:coreProperties>
</file>